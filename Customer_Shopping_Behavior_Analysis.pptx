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99d933c-3aa5-92ae-51a2-49c2c8986ef8}">
          <p14:sldIdLst>
            <p14:sldId id="256"/>
            <p14:sldId id="257"/>
            <p14:sldId id="258"/>
          </p14:sldIdLst>
        </p14:section>
        <p14:section name="SQL analysis" id="{38c91221-4ddb-0a11-cb97-5d7e5c93794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ashboard" id="{541ad2b5-01a4-b3cb-fe7c-79082c97a63f}">
          <p14:sldIdLst>
            <p14:sldId id="266"/>
          </p14:sldIdLst>
        </p14:section>
        <p14:section name="Recommendations" id="{c8f45282-bfc1-5a09-12c7-15467e7a0aa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Total revenue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E88DB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17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D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B174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0"/>
        </c:scaling>
        <c:delete val="0"/>
        <c:axPos val="l"/>
        <c:majorGridlines>
          <c:spPr>
            <a:ln w="9525" cap="flat">
              <a:solidFill>
                <a:srgbClr val="E3D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6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Share of customers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8DB8"/>
              </a:solidFill>
              <a:effectLst/>
            </c:spPr>
          </c:dPt>
          <c:dPt>
            <c:idx val="1"/>
            <c:bubble3D val="0"/>
            <c:spPr>
              <a:solidFill>
                <a:srgbClr val="3B17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</c:v>
                </c:pt>
                <c:pt idx="1">
                  <c:v>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174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Total revenue by age group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17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Senior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Young Adult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55763</c:v>
                </c:pt>
                <c:pt idx="1">
                  <c:v>55978</c:v>
                </c:pt>
                <c:pt idx="2">
                  <c:v>59197</c:v>
                </c:pt>
                <c:pt idx="3">
                  <c:v>62143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B174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000"/>
          <c:min val="0"/>
        </c:scaling>
        <c:delete val="0"/>
        <c:axPos val="b"/>
        <c:majorGridlines>
          <c:spPr>
            <a:ln w="9525" cap="flat">
              <a:solidFill>
                <a:srgbClr val="E3D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Top 5 by average rating (out of 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7B3FA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17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Skirt</c:v>
                  </c:pt>
                  <c:pt idx="1">
                    <c:v>Hat</c:v>
                  </c:pt>
                  <c:pt idx="2">
                    <c:v>Boots</c:v>
                  </c:pt>
                  <c:pt idx="3">
                    <c:v>Sandals</c:v>
                  </c:pt>
                  <c:pt idx="4">
                    <c:v>Gloves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3.78</c:v>
                </c:pt>
                <c:pt idx="1">
                  <c:v>3.8</c:v>
                </c:pt>
                <c:pt idx="2">
                  <c:v>3.82</c:v>
                </c:pt>
                <c:pt idx="3">
                  <c:v>3.84</c:v>
                </c:pt>
                <c:pt idx="4">
                  <c:v>3.86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3B174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9525" cap="flat">
              <a:solidFill>
                <a:srgbClr val="E3D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Top 5 by share of discounted purchases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17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Pants</c:v>
                  </c:pt>
                  <c:pt idx="1">
                    <c:v>Sweater</c:v>
                  </c:pt>
                  <c:pt idx="2">
                    <c:v>Coat</c:v>
                  </c:pt>
                  <c:pt idx="3">
                    <c:v>Sneakers</c:v>
                  </c:pt>
                  <c:pt idx="4">
                    <c:v>Hat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47.37</c:v>
                </c:pt>
                <c:pt idx="1">
                  <c:v>48.17</c:v>
                </c:pt>
                <c:pt idx="2">
                  <c:v>49.07</c:v>
                </c:pt>
                <c:pt idx="3">
                  <c:v>49.66</c:v>
                </c:pt>
                <c:pt idx="4">
                  <c:v>50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B174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9525" cap="flat">
              <a:solidFill>
                <a:srgbClr val="E3D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Customers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bubble3D val="0"/>
            <c:spPr>
              <a:solidFill>
                <a:srgbClr val="7B3FA0"/>
              </a:solidFill>
              <a:effectLst/>
            </c:spPr>
          </c:dPt>
          <c:dPt>
            <c:idx val="2"/>
            <c:bubble3D val="0"/>
            <c:spPr>
              <a:solidFill>
                <a:srgbClr val="E88DB8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174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17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B1747"/>
                </a:solidFill>
                <a:latin typeface="+mn-lt"/>
              </a:rPr>
              <a:t>Average purchase amount by shipping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</c:v>
                </c:pt>
              </c:strCache>
            </c:strRef>
          </c:tx>
          <c:spPr>
            <a:solidFill>
              <a:srgbClr val="E88DB8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174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D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58.46</c:v>
                </c:pt>
                <c:pt idx="1">
                  <c:v>60.48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1200" u="none">
                  <a:solidFill>
                    <a:srgbClr val="3B174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D6E6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analysis using Python for cleaning, PostgreSQL for business queries and Power BI for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uncover insights into spending patterns, customer segments, product preferences and subscription behavior to guide strategic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from raw data to a clean PostgreSQL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customers generate roughly 2.1x female revenue. Male customers are 2,652 of 3,900 (68%), so the gap tracks customer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27% subscribe. Average spend is almost identical, so subscription does not currently lift basket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spread fairly evenly; young adults lead at roughly 27% of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Top-rated products score 3.78 to 3.86. Hats, sneakers and coats have about half of purchases discounted.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products by order count within each category. Outerwear's third item was not shown in the source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of customers fall in the Loyal segment. Among repeat buyers (&gt;5 purchases) about 28% subscribe, similar to the overall 27%.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 shoppers spend about $2 more per order. 839 customers used a discount and still spent above the average purchase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Filters for subscription status, gender, category and shipping type; KPIs and breakdowns by category and age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ties back to findings: only 27% subscribe, 80% of customers are Loyal, about half of purchases of several products are discounted, and express shipping and young adults show the highest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492240" y="-822960"/>
            <a:ext cx="3840480" cy="3840480"/>
          </a:xfrm>
          <a:prstGeom prst="ellipse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7589520" y="2651760"/>
            <a:ext cx="2194560" cy="219456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Spending patterns, segments and subscription behavior across 3,900 purchases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Python  ·  PostgreSQL  · 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Transactional data from 3,900 purchases across product categories, analyzed to guide strategic business decisions.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146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demographics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Purchase details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Shopping behavior</a:t>
            </a:r>
            <a:endParaRPr lang="en-US" sz="1600" dirty="0"/>
          </a:p>
        </p:txBody>
      </p:sp>
      <p:sp>
        <p:nvSpPr>
          <p:cNvPr id="6" name="Stat Card"/>
          <p:cNvSpPr/>
          <p:nvPr/>
        </p:nvSpPr>
        <p:spPr>
          <a:xfrm>
            <a:off x="4480560" y="118872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80560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rows (purchases)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6537960" y="118872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1417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03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columns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4480560" y="28803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 categories</a:t>
            </a:r>
            <a:endParaRPr lang="en-US" sz="1400" dirty="0"/>
          </a:p>
        </p:txBody>
      </p:sp>
      <p:sp>
        <p:nvSpPr>
          <p:cNvPr id="15" name="Stat Card"/>
          <p:cNvSpPr/>
          <p:nvPr/>
        </p:nvSpPr>
        <p:spPr>
          <a:xfrm>
            <a:off x="6537960" y="28803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3108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missing ratings, imputed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in Python</a:t>
            </a:r>
            <a:endParaRPr lang="en-US" sz="3000" dirty="0"/>
          </a:p>
        </p:txBody>
      </p:sp>
      <p:sp>
        <p:nvSpPr>
          <p:cNvPr id="4" name="Step Card"/>
          <p:cNvSpPr/>
          <p:nvPr/>
        </p:nvSpPr>
        <p:spPr>
          <a:xfrm>
            <a:off x="457200" y="123444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Badge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 &amp; explore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Imported with pandas; checked structure with info() and describe()</a:t>
            </a:r>
            <a:endParaRPr lang="en-US" sz="1400" dirty="0"/>
          </a:p>
        </p:txBody>
      </p:sp>
      <p:sp>
        <p:nvSpPr>
          <p:cNvPr id="9" name="Step Card"/>
          <p:cNvSpPr/>
          <p:nvPr/>
        </p:nvSpPr>
        <p:spPr>
          <a:xfrm>
            <a:off x="3246120" y="123444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Badge"/>
          <p:cNvSpPr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959352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Impute missing data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37 Review Rating gaps filled with each category's median</a:t>
            </a:r>
            <a:endParaRPr lang="en-US" sz="1400" dirty="0"/>
          </a:p>
        </p:txBody>
      </p:sp>
      <p:sp>
        <p:nvSpPr>
          <p:cNvPr id="14" name="Step Card"/>
          <p:cNvSpPr/>
          <p:nvPr/>
        </p:nvSpPr>
        <p:spPr>
          <a:xfrm>
            <a:off x="6035040" y="123444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ep Badge"/>
          <p:cNvSpPr/>
          <p:nvPr/>
        </p:nvSpPr>
        <p:spPr>
          <a:xfrm>
            <a:off x="621792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48272" y="14173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Standardize columns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965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Renamed all columns to snake_case</a:t>
            </a:r>
            <a:endParaRPr lang="en-US" sz="1400" dirty="0"/>
          </a:p>
        </p:txBody>
      </p:sp>
      <p:sp>
        <p:nvSpPr>
          <p:cNvPr id="19" name="Step Card"/>
          <p:cNvSpPr/>
          <p:nvPr/>
        </p:nvSpPr>
        <p:spPr>
          <a:xfrm>
            <a:off x="45720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Badge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70432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Engineer features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age_group and purchase_frequency_days</a:t>
            </a:r>
            <a:endParaRPr lang="en-US" sz="1400" dirty="0"/>
          </a:p>
        </p:txBody>
      </p:sp>
      <p:sp>
        <p:nvSpPr>
          <p:cNvPr id="24" name="Step Card"/>
          <p:cNvSpPr/>
          <p:nvPr/>
        </p:nvSpPr>
        <p:spPr>
          <a:xfrm>
            <a:off x="324612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Badge"/>
          <p:cNvSpPr/>
          <p:nvPr/>
        </p:nvSpPr>
        <p:spPr>
          <a:xfrm>
            <a:off x="3429000" y="3200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290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959352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 consistency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Dropped promo_code_used as redundant with discount_applied</a:t>
            </a:r>
            <a:endParaRPr lang="en-US" sz="1400" dirty="0"/>
          </a:p>
        </p:txBody>
      </p:sp>
      <p:sp>
        <p:nvSpPr>
          <p:cNvPr id="29" name="Step Card"/>
          <p:cNvSpPr/>
          <p:nvPr/>
        </p:nvSpPr>
        <p:spPr>
          <a:xfrm>
            <a:off x="603504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ep Badge"/>
          <p:cNvSpPr/>
          <p:nvPr/>
        </p:nvSpPr>
        <p:spPr>
          <a:xfrm>
            <a:off x="6217920" y="3200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179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748272" y="3200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Load to PostgreSQL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3749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Cleaned DataFrame loaded for SQL analysis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5394960" y="123444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394960" y="1417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562356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revenue comes from male customers, who also make up 68% of the customer base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23560" y="3337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gap reflects customer count, not higher spend per person.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vs. non-subscribers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mpare Card"/>
          <p:cNvSpPr/>
          <p:nvPr/>
        </p:nvSpPr>
        <p:spPr>
          <a:xfrm>
            <a:off x="4297680" y="123444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434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Subscribers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3891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438912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Customers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38912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2862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Avg. spend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$62,645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13" name="Compare Card"/>
          <p:cNvSpPr/>
          <p:nvPr/>
        </p:nvSpPr>
        <p:spPr>
          <a:xfrm>
            <a:off x="6583680" y="1234440"/>
            <a:ext cx="2103120" cy="2697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20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Non-subscribers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2,847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Customers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67512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$59.87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2862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Avg. spend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$170,436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667512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21" name="Takeaway"/>
          <p:cNvSpPr txBox="1"/>
          <p:nvPr/>
        </p:nvSpPr>
        <p:spPr>
          <a:xfrm>
            <a:off x="45720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Average spend is nearly identical, so the upside is converting more of the 73% who don't subscribe.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5943600" y="123444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$62.1K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2331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Young Adults, the top-earning group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3108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Only about $6K separates the highest and lowest groups.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ratings and discount dependence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14300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akeaway"/>
          <p:cNvSpPr txBox="1"/>
          <p:nvPr/>
        </p:nvSpPr>
        <p:spPr>
          <a:xfrm>
            <a:off x="45720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Ratings are tightly clustered; five products sell on discount in nearly half of purchases.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purchased items by category</a:t>
            </a:r>
            <a:endParaRPr lang="en-US" sz="3000" dirty="0"/>
          </a:p>
        </p:txBody>
      </p:sp>
      <p:sp>
        <p:nvSpPr>
          <p:cNvPr id="4" name="Category Card"/>
          <p:cNvSpPr/>
          <p:nvPr/>
        </p:nvSpPr>
        <p:spPr>
          <a:xfrm>
            <a:off x="457200" y="123444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Accessories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Jewelry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171 orders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Sunglasses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161 orders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Belt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161 orders</a:t>
            </a:r>
            <a:endParaRPr lang="en-US" sz="1200" dirty="0"/>
          </a:p>
        </p:txBody>
      </p:sp>
      <p:sp>
        <p:nvSpPr>
          <p:cNvPr id="12" name="Category Card"/>
          <p:cNvSpPr/>
          <p:nvPr/>
        </p:nvSpPr>
        <p:spPr>
          <a:xfrm>
            <a:off x="2542032" y="123444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9192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Clothing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679192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Blouse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679192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171 orders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79192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Pants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679192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171 orders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79192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Shirt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679192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169 orders</a:t>
            </a:r>
            <a:endParaRPr lang="en-US" sz="1200" dirty="0"/>
          </a:p>
        </p:txBody>
      </p:sp>
      <p:sp>
        <p:nvSpPr>
          <p:cNvPr id="20" name="Category Card"/>
          <p:cNvSpPr/>
          <p:nvPr/>
        </p:nvSpPr>
        <p:spPr>
          <a:xfrm>
            <a:off x="4626864" y="123444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64024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Footwear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764024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Sandals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764024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160 orders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64024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Shoes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764024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150 orders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64024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Sneakers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764024" y="3685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145 orders</a:t>
            </a:r>
            <a:endParaRPr lang="en-US" sz="1200" dirty="0"/>
          </a:p>
        </p:txBody>
      </p:sp>
      <p:sp>
        <p:nvSpPr>
          <p:cNvPr id="28" name="Category Card"/>
          <p:cNvSpPr/>
          <p:nvPr/>
        </p:nvSpPr>
        <p:spPr>
          <a:xfrm>
            <a:off x="6711696" y="1234440"/>
            <a:ext cx="1920240" cy="30175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48856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Outerwear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848856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Jacket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848856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163 orders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848856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Coat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848856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161 orders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and repeat buyers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4663440" y="123444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Repeat buyers (&gt;5 purchases)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84632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958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484632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subscribed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2,518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not subscribed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846320" y="2971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Frequent buying alone doesn't lead to subscribing: loyal shoppers are an untapped subscription audience.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type and high-spending discount users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5029200" y="1234440"/>
            <a:ext cx="36576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02920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2423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used a discount yet spent above the average purchase amount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257800" y="3337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Express: +$2.02 per order vs.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pic>
        <p:nvPicPr>
          <p:cNvPr id="4" name="Dashboard Screenshot" descr="dash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930753"/>
          </a:xfrm>
          <a:prstGeom prst="rect">
            <a:avLst/>
          </a:prstGeom>
        </p:spPr>
      </p:pic>
      <p:sp>
        <p:nvSpPr>
          <p:cNvPr id="5" name="KPI Card"/>
          <p:cNvSpPr/>
          <p:nvPr/>
        </p:nvSpPr>
        <p:spPr>
          <a:xfrm>
            <a:off x="6126480" y="109728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0" y="11704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customers</a:t>
            </a:r>
            <a:endParaRPr lang="en-US" sz="1200" dirty="0"/>
          </a:p>
        </p:txBody>
      </p:sp>
      <p:sp>
        <p:nvSpPr>
          <p:cNvPr id="8" name="KPI Card"/>
          <p:cNvSpPr/>
          <p:nvPr/>
        </p:nvSpPr>
        <p:spPr>
          <a:xfrm>
            <a:off x="6126480" y="214884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2221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6217920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purchase</a:t>
            </a:r>
            <a:endParaRPr lang="en-US" sz="1200" dirty="0"/>
          </a:p>
        </p:txBody>
      </p:sp>
      <p:sp>
        <p:nvSpPr>
          <p:cNvPr id="11" name="KPI Card"/>
          <p:cNvSpPr/>
          <p:nvPr/>
        </p:nvSpPr>
        <p:spPr>
          <a:xfrm>
            <a:off x="6126480" y="3200400"/>
            <a:ext cx="25603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17920" y="3273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3767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review rating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70"/>
                </a:solidFill>
              </a:rPr>
              <a:t>Filter by subscription, gender, category and shipping type.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Rec Badge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Boost subscriptions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188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Promote exclusive benefits for subscribers</a:t>
            </a:r>
            <a:endParaRPr lang="en-US" sz="1400" dirty="0"/>
          </a:p>
        </p:txBody>
      </p:sp>
      <p:sp>
        <p:nvSpPr>
          <p:cNvPr id="7" name="Rec Badge"/>
          <p:cNvSpPr/>
          <p:nvPr/>
        </p:nvSpPr>
        <p:spPr>
          <a:xfrm>
            <a:off x="457200" y="19476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019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Customer loyalty programs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901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Reward repeat buyers to move them into the Loyal segment</a:t>
            </a:r>
            <a:endParaRPr lang="en-US" sz="1400" dirty="0"/>
          </a:p>
        </p:txBody>
      </p:sp>
      <p:sp>
        <p:nvSpPr>
          <p:cNvPr id="11" name="Rec Badge"/>
          <p:cNvSpPr/>
          <p:nvPr/>
        </p:nvSpPr>
        <p:spPr>
          <a:xfrm>
            <a:off x="457200" y="26609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1518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discount policy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61518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Balance sales boosts with margin control</a:t>
            </a:r>
            <a:endParaRPr lang="en-US" sz="1400" dirty="0"/>
          </a:p>
        </p:txBody>
      </p:sp>
      <p:sp>
        <p:nvSpPr>
          <p:cNvPr id="15" name="Rec Badge"/>
          <p:cNvSpPr/>
          <p:nvPr/>
        </p:nvSpPr>
        <p:spPr>
          <a:xfrm>
            <a:off x="457200" y="337413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2841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Product positioning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32841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Highlight top-rated and best-selling products in campaigns</a:t>
            </a:r>
            <a:endParaRPr lang="en-US" sz="1400" dirty="0"/>
          </a:p>
        </p:txBody>
      </p:sp>
      <p:sp>
        <p:nvSpPr>
          <p:cNvPr id="19" name="Rec Badge"/>
          <p:cNvSpPr/>
          <p:nvPr/>
        </p:nvSpPr>
        <p:spPr>
          <a:xfrm>
            <a:off x="457200" y="40873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0416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Targeted marketing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0416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Focus on high-revenue age groups and express-shipping users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ping Behavior">
  <a:themeElements>
    <a:clrScheme name="Shopping Behavior">
      <a:dk1>
        <a:srgbClr val="2B1030"/>
      </a:dk1>
      <a:lt1>
        <a:srgbClr val="FFFFFF"/>
      </a:lt1>
      <a:dk2>
        <a:srgbClr val="3B1747"/>
      </a:dk2>
      <a:lt2>
        <a:srgbClr val="F7EFF8"/>
      </a:lt2>
      <a:accent1>
        <a:srgbClr val="C2185B"/>
      </a:accent1>
      <a:accent2>
        <a:srgbClr val="7B3FA0"/>
      </a:accent2>
      <a:accent3>
        <a:srgbClr val="E88DB8"/>
      </a:accent3>
      <a:accent4>
        <a:srgbClr val="5B6B9A"/>
      </a:accent4>
      <a:accent5>
        <a:srgbClr val="E8923A"/>
      </a:accent5>
      <a:accent6>
        <a:srgbClr val="2E9E8F"/>
      </a:accent6>
      <a:hlink>
        <a:srgbClr val="7B3FA0"/>
      </a:hlink>
      <a:folHlink>
        <a:srgbClr val="5B6B9A"/>
      </a:folHlink>
    </a:clrScheme>
    <a:fontScheme name="Shopping Behavi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2026-10-17T13:36:26Z</dcterms:created>
  <dcterms:modified xsi:type="dcterms:W3CDTF">2026-10-17T13:36:26Z</dcterms:modified>
</cp:coreProperties>
</file>